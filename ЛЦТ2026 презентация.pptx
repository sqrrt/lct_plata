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9.jpeg" ContentType="image/jpeg"/>
  <Override PartName="/ppt/media/image4.png" ContentType="image/png"/>
  <Override PartName="/ppt/media/image5.png" ContentType="image/png"/>
  <Override PartName="/ppt/media/image8.jpeg" ContentType="image/jpeg"/>
  <Override PartName="/ppt/media/image6.jpeg" ContentType="image/jpeg"/>
  <Override PartName="/ppt/media/image7.jpeg" ContentType="image/jpeg"/>
  <Override PartName="/ppt/media/image10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</p:sldMasterIdLst>
  <p:notesMasterIdLst>
    <p:notesMasterId r:id="rId25"/>
  </p:notesMasterIdLst>
  <p:sldIdLst>
    <p:sldId id="256" r:id="rId26"/>
    <p:sldId id="257" r:id="rId27"/>
    <p:sldId id="258" r:id="rId28"/>
    <p:sldId id="259" r:id="rId29"/>
    <p:sldId id="260" r:id="rId3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notesMaster" Target="notesMasters/notesMaster1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chemeClr val="dk1"/>
                </a:solidFill>
                <a:latin typeface="Montserrat"/>
              </a:rPr>
              <a:t>Click to move the slide</a:t>
            </a:r>
            <a:endParaRPr b="0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dt" idx="6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ftr" idx="6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PlaceHolder 6"/>
          <p:cNvSpPr>
            <a:spLocks noGrp="1"/>
          </p:cNvSpPr>
          <p:nvPr>
            <p:ph type="sldNum" idx="6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9F28777-F224-413F-8D78-C5B210BFE40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55B87E-6917-48F4-88AC-FB74490B621B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E83C0D-FCF0-4741-9DC8-25C9DB7E3CF5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1547C70-C10D-4043-B177-A98E6E527423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531518B-1C09-469F-B7D0-B27F5666D2D7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12C339-438E-4ADC-8AC2-B923CD256917}" type="slidenum">
              <a:rPr b="0" lang="ru-RU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FFDBA9-F6AC-4EBB-94F7-058D91A330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FE2779-A530-4415-ACE9-14E53819AF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6871EBD-95BD-4E81-A65C-9BD75836A1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62EAC87-04D9-4349-ADD3-D5F1E58D96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3FC1897-3E6E-485D-82E6-9AB3311DC3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7B12EA3-35D1-443D-AECF-0945CD76F6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92DF5B8-C19D-4C69-A242-CC3061DB10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B46BEFC-CDCE-4147-9FFE-311759EB6F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5915E3C-41B4-46D9-B387-2BE4D195A2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A4B6FAA-83A6-45BB-BE97-39AE64AEF7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B4D743AD-4C7E-4367-AA20-4998297D90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886DBDBE-5A88-4655-95CC-6459ACBCC7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F67F3EB1-79D7-47F7-83FF-B06F77BC2F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F81A130F-9A8C-495C-8E71-C57912BEB6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BDC692EE-39E2-474B-8240-93BA5B9D4D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38B9E91B-0540-40D9-83BF-9B509F1712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FB577BE2-A907-463F-A49D-09F4350C82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AC89E486-0E62-4CD5-A927-D882DCC9A7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CA1723D8-6DC1-4F72-B603-AEE1F6DCB4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6792120" y="395280"/>
            <a:ext cx="5399640" cy="539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Montserrat"/>
                <a:ea typeface="Arial"/>
              </a:rPr>
              <a:t>Иконка задачи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0" y="4323600"/>
            <a:ext cx="8930160" cy="82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5788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28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Н</a:t>
            </a:r>
            <a:r>
              <a:rPr b="1" lang="ru-RU" sz="28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АЗВ</a:t>
            </a:r>
            <a:r>
              <a:rPr b="1" lang="ru-RU" sz="28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АН</a:t>
            </a:r>
            <a:r>
              <a:rPr b="1" lang="ru-RU" sz="28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ИЕ </a:t>
            </a:r>
            <a:r>
              <a:rPr b="1" lang="ru-RU" sz="28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КО</a:t>
            </a:r>
            <a:r>
              <a:rPr b="1" lang="ru-RU" sz="28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МА</a:t>
            </a:r>
            <a:r>
              <a:rPr b="1" lang="ru-RU" sz="28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НД</a:t>
            </a:r>
            <a:r>
              <a:rPr b="1" lang="ru-RU" sz="28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Ы</a:t>
            </a:r>
            <a:endParaRPr b="0" lang="ru-RU" sz="2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02800" y="2912040"/>
            <a:ext cx="3386520" cy="108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Montserrat"/>
                <a:ea typeface="Arial"/>
              </a:rPr>
              <a:t>Логотип/логотипы постановщика задачи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0" y="5149800"/>
            <a:ext cx="8930160" cy="75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Номер и название задачи</a:t>
            </a:r>
            <a:endParaRPr b="0" lang="ru-RU" sz="16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dt" idx="1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2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title"/>
          </p:nvPr>
        </p:nvSpPr>
        <p:spPr>
          <a:xfrm>
            <a:off x="802800" y="3922560"/>
            <a:ext cx="5293080" cy="165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8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3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B71C3EE8-22B2-4FE4-91CB-CACA89D879E7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dt" idx="4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5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6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3598A37-146A-48B1-8D63-623F85A732CB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1873440" y="1222560"/>
            <a:ext cx="386640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  <a:ea typeface="Arial"/>
              </a:rPr>
              <a:t>Заголовок</a:t>
            </a:r>
            <a:endParaRPr b="0" lang="ru-RU" sz="16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1873440" y="179028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Описание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body"/>
          </p:nvPr>
        </p:nvSpPr>
        <p:spPr>
          <a:xfrm>
            <a:off x="1854360" y="282672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  <a:ea typeface="Arial"/>
              </a:rPr>
              <a:t>Заголовок</a:t>
            </a:r>
            <a:endParaRPr b="0" lang="ru-RU" sz="16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body"/>
          </p:nvPr>
        </p:nvSpPr>
        <p:spPr>
          <a:xfrm>
            <a:off x="1854360" y="337428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Описание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body"/>
          </p:nvPr>
        </p:nvSpPr>
        <p:spPr>
          <a:xfrm>
            <a:off x="1854360" y="441072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  <a:ea typeface="Arial"/>
              </a:rPr>
              <a:t>Заголовок</a:t>
            </a:r>
            <a:endParaRPr b="0" lang="ru-RU" sz="16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6" name="PlaceHolder 9"/>
          <p:cNvSpPr>
            <a:spLocks noGrp="1"/>
          </p:cNvSpPr>
          <p:nvPr>
            <p:ph type="body"/>
          </p:nvPr>
        </p:nvSpPr>
        <p:spPr>
          <a:xfrm>
            <a:off x="1854360" y="495864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Описание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7" name="PlaceHolder 10"/>
          <p:cNvSpPr>
            <a:spLocks noGrp="1"/>
          </p:cNvSpPr>
          <p:nvPr>
            <p:ph type="body"/>
          </p:nvPr>
        </p:nvSpPr>
        <p:spPr>
          <a:xfrm>
            <a:off x="7546680" y="1222560"/>
            <a:ext cx="386640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  <a:ea typeface="Arial"/>
              </a:rPr>
              <a:t>Заголовок</a:t>
            </a:r>
            <a:endParaRPr b="0" lang="ru-RU" sz="16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8" name="PlaceHolder 11"/>
          <p:cNvSpPr>
            <a:spLocks noGrp="1"/>
          </p:cNvSpPr>
          <p:nvPr>
            <p:ph type="body"/>
          </p:nvPr>
        </p:nvSpPr>
        <p:spPr>
          <a:xfrm>
            <a:off x="7546680" y="179028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Описание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9" name="PlaceHolder 12"/>
          <p:cNvSpPr>
            <a:spLocks noGrp="1"/>
          </p:cNvSpPr>
          <p:nvPr>
            <p:ph type="body"/>
          </p:nvPr>
        </p:nvSpPr>
        <p:spPr>
          <a:xfrm>
            <a:off x="7527240" y="282672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  <a:ea typeface="Arial"/>
              </a:rPr>
              <a:t>Заголовок</a:t>
            </a:r>
            <a:endParaRPr b="0" lang="ru-RU" sz="16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0" name="PlaceHolder 13"/>
          <p:cNvSpPr>
            <a:spLocks noGrp="1"/>
          </p:cNvSpPr>
          <p:nvPr>
            <p:ph type="body"/>
          </p:nvPr>
        </p:nvSpPr>
        <p:spPr>
          <a:xfrm>
            <a:off x="7527240" y="337428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Описание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1" name="PlaceHolder 14"/>
          <p:cNvSpPr>
            <a:spLocks noGrp="1"/>
          </p:cNvSpPr>
          <p:nvPr>
            <p:ph type="body"/>
          </p:nvPr>
        </p:nvSpPr>
        <p:spPr>
          <a:xfrm>
            <a:off x="7527240" y="441072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  <a:ea typeface="Arial"/>
              </a:rPr>
              <a:t>Заголовок</a:t>
            </a:r>
            <a:endParaRPr b="0" lang="ru-RU" sz="16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2" name="PlaceHolder 15"/>
          <p:cNvSpPr>
            <a:spLocks noGrp="1"/>
          </p:cNvSpPr>
          <p:nvPr>
            <p:ph type="body"/>
          </p:nvPr>
        </p:nvSpPr>
        <p:spPr>
          <a:xfrm>
            <a:off x="7527240" y="495864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Описание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3" name="PlaceHolder 16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4" name="PlaceHolder 17"/>
          <p:cNvSpPr>
            <a:spLocks noGrp="1"/>
          </p:cNvSpPr>
          <p:nvPr>
            <p:ph type="body"/>
          </p:nvPr>
        </p:nvSpPr>
        <p:spPr>
          <a:xfrm>
            <a:off x="778320" y="1188000"/>
            <a:ext cx="77076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accent2"/>
                </a:solidFill>
                <a:latin typeface="Montserrat"/>
                <a:ea typeface="Arial"/>
              </a:rPr>
              <a:t>01</a:t>
            </a:r>
            <a:endParaRPr b="0" lang="ru-RU" sz="2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5" name="PlaceHolder 18"/>
          <p:cNvSpPr>
            <a:spLocks noGrp="1"/>
          </p:cNvSpPr>
          <p:nvPr>
            <p:ph type="body"/>
          </p:nvPr>
        </p:nvSpPr>
        <p:spPr>
          <a:xfrm>
            <a:off x="759240" y="279180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accent2"/>
                </a:solidFill>
                <a:latin typeface="Montserrat"/>
                <a:ea typeface="Arial"/>
              </a:rPr>
              <a:t>02</a:t>
            </a:r>
            <a:endParaRPr b="0" lang="ru-RU" sz="2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6" name="PlaceHolder 19"/>
          <p:cNvSpPr>
            <a:spLocks noGrp="1"/>
          </p:cNvSpPr>
          <p:nvPr>
            <p:ph type="body"/>
          </p:nvPr>
        </p:nvSpPr>
        <p:spPr>
          <a:xfrm>
            <a:off x="759240" y="437616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accent2"/>
                </a:solidFill>
                <a:latin typeface="Montserrat"/>
                <a:ea typeface="Arial"/>
              </a:rPr>
              <a:t>03</a:t>
            </a:r>
            <a:endParaRPr b="0" lang="ru-RU" sz="2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7" name="PlaceHolder 20"/>
          <p:cNvSpPr>
            <a:spLocks noGrp="1"/>
          </p:cNvSpPr>
          <p:nvPr>
            <p:ph type="body"/>
          </p:nvPr>
        </p:nvSpPr>
        <p:spPr>
          <a:xfrm>
            <a:off x="6451560" y="1188000"/>
            <a:ext cx="77076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accent2"/>
                </a:solidFill>
                <a:latin typeface="Montserrat"/>
                <a:ea typeface="Arial"/>
              </a:rPr>
              <a:t>04</a:t>
            </a:r>
            <a:endParaRPr b="0" lang="ru-RU" sz="2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8" name="PlaceHolder 21"/>
          <p:cNvSpPr>
            <a:spLocks noGrp="1"/>
          </p:cNvSpPr>
          <p:nvPr>
            <p:ph type="body"/>
          </p:nvPr>
        </p:nvSpPr>
        <p:spPr>
          <a:xfrm>
            <a:off x="6432120" y="279180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accent2"/>
                </a:solidFill>
                <a:latin typeface="Montserrat"/>
                <a:ea typeface="Arial"/>
              </a:rPr>
              <a:t>05</a:t>
            </a:r>
            <a:endParaRPr b="0" lang="ru-RU" sz="2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9" name="PlaceHolder 22"/>
          <p:cNvSpPr>
            <a:spLocks noGrp="1"/>
          </p:cNvSpPr>
          <p:nvPr>
            <p:ph type="body"/>
          </p:nvPr>
        </p:nvSpPr>
        <p:spPr>
          <a:xfrm>
            <a:off x="6432120" y="437616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accent2"/>
                </a:solidFill>
                <a:latin typeface="Montserrat"/>
                <a:ea typeface="Arial"/>
              </a:rPr>
              <a:t>06</a:t>
            </a:r>
            <a:endParaRPr b="0" lang="ru-RU" sz="2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dt" idx="7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8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9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C00D265-D2E9-4A8E-8B35-7EA7803BB8E0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37260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7440120" y="1015920"/>
            <a:ext cx="4405320" cy="307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Click to edit the outline text format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Second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Third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Fourth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Fifth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Sixth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Seventh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7440120" y="4389120"/>
            <a:ext cx="4405320" cy="181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Click to edit the outline text format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Second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Third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Fourth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Fifth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Sixth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Seventh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345960" y="3223800"/>
            <a:ext cx="6805800" cy="297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Click to edit the outline text format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Second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Third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Fourth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Fifth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Sixth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Seventh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body"/>
          </p:nvPr>
        </p:nvSpPr>
        <p:spPr>
          <a:xfrm>
            <a:off x="345960" y="1015920"/>
            <a:ext cx="6805800" cy="20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dt" idx="10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ftr" idx="11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/>
          </p:nvPr>
        </p:nvSpPr>
        <p:spPr>
          <a:xfrm>
            <a:off x="36108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1994400" y="2973600"/>
            <a:ext cx="2190600" cy="91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Текст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662880" y="158796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6662880" y="244512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body"/>
          </p:nvPr>
        </p:nvSpPr>
        <p:spPr>
          <a:xfrm>
            <a:off x="6662880" y="330228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body"/>
          </p:nvPr>
        </p:nvSpPr>
        <p:spPr>
          <a:xfrm>
            <a:off x="6662880" y="415908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46" name="PlaceHolder 9"/>
          <p:cNvSpPr>
            <a:spLocks noGrp="1"/>
          </p:cNvSpPr>
          <p:nvPr>
            <p:ph type="body"/>
          </p:nvPr>
        </p:nvSpPr>
        <p:spPr>
          <a:xfrm>
            <a:off x="6662880" y="501624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dt" idx="12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13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14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BB468E2C-C67F-467E-8F9D-D174CCAE9306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title"/>
          </p:nvPr>
        </p:nvSpPr>
        <p:spPr>
          <a:xfrm>
            <a:off x="36108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51" name="Текст 35"/>
          <p:cNvSpPr/>
          <p:nvPr/>
        </p:nvSpPr>
        <p:spPr>
          <a:xfrm>
            <a:off x="6683040" y="1026720"/>
            <a:ext cx="4789800" cy="16149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2"/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683040" y="1626840"/>
            <a:ext cx="4789800" cy="101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53" name="Текст 35"/>
          <p:cNvSpPr/>
          <p:nvPr/>
        </p:nvSpPr>
        <p:spPr>
          <a:xfrm>
            <a:off x="6683040" y="2807640"/>
            <a:ext cx="4789800" cy="16149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2"/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6683040" y="3407760"/>
            <a:ext cx="4789800" cy="101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55" name="Текст 35"/>
          <p:cNvSpPr/>
          <p:nvPr/>
        </p:nvSpPr>
        <p:spPr>
          <a:xfrm>
            <a:off x="6683040" y="4583880"/>
            <a:ext cx="4789800" cy="16149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2"/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 type="body"/>
          </p:nvPr>
        </p:nvSpPr>
        <p:spPr>
          <a:xfrm>
            <a:off x="6683040" y="5184000"/>
            <a:ext cx="4789800" cy="101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dt" idx="15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16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17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3E54978-20FE-4B9B-BA89-3620E3B08CEF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title"/>
          </p:nvPr>
        </p:nvSpPr>
        <p:spPr>
          <a:xfrm>
            <a:off x="3495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61" name="Текст 35"/>
          <p:cNvSpPr/>
          <p:nvPr/>
        </p:nvSpPr>
        <p:spPr>
          <a:xfrm>
            <a:off x="6683040" y="101592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1"/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683040" y="139536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63" name="Текст 35"/>
          <p:cNvSpPr/>
          <p:nvPr/>
        </p:nvSpPr>
        <p:spPr>
          <a:xfrm>
            <a:off x="6683040" y="228456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ad2aef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body"/>
          </p:nvPr>
        </p:nvSpPr>
        <p:spPr>
          <a:xfrm>
            <a:off x="6683040" y="266400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65" name="Текст 35"/>
          <p:cNvSpPr/>
          <p:nvPr/>
        </p:nvSpPr>
        <p:spPr>
          <a:xfrm>
            <a:off x="6683040" y="355320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8a83d1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4"/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body"/>
          </p:nvPr>
        </p:nvSpPr>
        <p:spPr>
          <a:xfrm>
            <a:off x="6683040" y="393264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67" name="Текст 35"/>
          <p:cNvSpPr/>
          <p:nvPr/>
        </p:nvSpPr>
        <p:spPr>
          <a:xfrm>
            <a:off x="6683040" y="482184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2"/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8"/>
          <p:cNvSpPr>
            <a:spLocks noGrp="1"/>
          </p:cNvSpPr>
          <p:nvPr>
            <p:ph type="body"/>
          </p:nvPr>
        </p:nvSpPr>
        <p:spPr>
          <a:xfrm>
            <a:off x="6683040" y="520128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dt" idx="18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ftr" idx="19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20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28159CB-9944-4AC4-9B1B-38E025B40B7F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title"/>
          </p:nvPr>
        </p:nvSpPr>
        <p:spPr>
          <a:xfrm>
            <a:off x="3675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73" name="Текст 35"/>
          <p:cNvSpPr/>
          <p:nvPr/>
        </p:nvSpPr>
        <p:spPr>
          <a:xfrm>
            <a:off x="6683040" y="101592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1"/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683040" y="139536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75" name="Текст 35"/>
          <p:cNvSpPr/>
          <p:nvPr/>
        </p:nvSpPr>
        <p:spPr>
          <a:xfrm>
            <a:off x="6683040" y="228456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ad2aef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6683040" y="266400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77" name="Текст 35"/>
          <p:cNvSpPr/>
          <p:nvPr/>
        </p:nvSpPr>
        <p:spPr>
          <a:xfrm>
            <a:off x="6683040" y="355320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8a83d1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4"/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683040" y="393264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79" name="Текст 35"/>
          <p:cNvSpPr/>
          <p:nvPr/>
        </p:nvSpPr>
        <p:spPr>
          <a:xfrm>
            <a:off x="6683040" y="482184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2"/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8"/>
          <p:cNvSpPr>
            <a:spLocks noGrp="1"/>
          </p:cNvSpPr>
          <p:nvPr>
            <p:ph type="body"/>
          </p:nvPr>
        </p:nvSpPr>
        <p:spPr>
          <a:xfrm>
            <a:off x="6683040" y="520128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dt" idx="21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22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23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2E0324B5-99E1-4CCE-A2ED-7525650F0A59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" name="Текст 35"/>
          <p:cNvSpPr/>
          <p:nvPr/>
        </p:nvSpPr>
        <p:spPr>
          <a:xfrm>
            <a:off x="345960" y="102492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  <a:ea typeface="Arial"/>
              </a:rPr>
              <a:t>Образец текста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345960" y="138096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86" name="Текст 35"/>
          <p:cNvSpPr/>
          <p:nvPr/>
        </p:nvSpPr>
        <p:spPr>
          <a:xfrm>
            <a:off x="4833000" y="102492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  <a:ea typeface="Arial"/>
              </a:rPr>
              <a:t>Образец текста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4833000" y="138096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88" name="Текст 35"/>
          <p:cNvSpPr/>
          <p:nvPr/>
        </p:nvSpPr>
        <p:spPr>
          <a:xfrm>
            <a:off x="9330840" y="102492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  <a:ea typeface="Arial"/>
              </a:rPr>
              <a:t>Образец текста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body"/>
          </p:nvPr>
        </p:nvSpPr>
        <p:spPr>
          <a:xfrm>
            <a:off x="9330840" y="138096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90" name="Текст 35"/>
          <p:cNvSpPr/>
          <p:nvPr/>
        </p:nvSpPr>
        <p:spPr>
          <a:xfrm>
            <a:off x="2593440" y="435816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  <a:ea typeface="Arial"/>
              </a:rPr>
              <a:t>Образец текста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7"/>
          <p:cNvSpPr>
            <a:spLocks noGrp="1"/>
          </p:cNvSpPr>
          <p:nvPr>
            <p:ph type="body"/>
          </p:nvPr>
        </p:nvSpPr>
        <p:spPr>
          <a:xfrm>
            <a:off x="2593440" y="471420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92" name="Текст 35"/>
          <p:cNvSpPr/>
          <p:nvPr/>
        </p:nvSpPr>
        <p:spPr>
          <a:xfrm>
            <a:off x="7080480" y="435816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  <a:ea typeface="Arial"/>
              </a:rPr>
              <a:t>Образец текста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8"/>
          <p:cNvSpPr>
            <a:spLocks noGrp="1"/>
          </p:cNvSpPr>
          <p:nvPr>
            <p:ph type="body"/>
          </p:nvPr>
        </p:nvSpPr>
        <p:spPr>
          <a:xfrm>
            <a:off x="7080480" y="471420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94" name="PlaceHolder 9"/>
          <p:cNvSpPr>
            <a:spLocks noGrp="1"/>
          </p:cNvSpPr>
          <p:nvPr>
            <p:ph type="title"/>
          </p:nvPr>
        </p:nvSpPr>
        <p:spPr>
          <a:xfrm>
            <a:off x="38412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dt" idx="24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ftr" idx="25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26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948A2E1-7DFE-49C5-AF5E-F32E67ED323E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title"/>
          </p:nvPr>
        </p:nvSpPr>
        <p:spPr>
          <a:xfrm>
            <a:off x="35748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99" name="Текст 35"/>
          <p:cNvSpPr/>
          <p:nvPr/>
        </p:nvSpPr>
        <p:spPr>
          <a:xfrm>
            <a:off x="516960" y="3810240"/>
            <a:ext cx="3263760" cy="2374920"/>
          </a:xfrm>
          <a:prstGeom prst="roundRect">
            <a:avLst>
              <a:gd name="adj" fmla="val 101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49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chemeClr val="lt1"/>
                </a:solidFill>
                <a:latin typeface="Montserrat"/>
                <a:ea typeface="Arial"/>
              </a:rPr>
              <a:t>Описание проблемы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Текст 35"/>
          <p:cNvSpPr/>
          <p:nvPr/>
        </p:nvSpPr>
        <p:spPr>
          <a:xfrm>
            <a:off x="4464720" y="3810240"/>
            <a:ext cx="3263760" cy="2374920"/>
          </a:xfrm>
          <a:prstGeom prst="roundRect">
            <a:avLst>
              <a:gd name="adj" fmla="val 101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49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chemeClr val="lt1"/>
                </a:solidFill>
                <a:latin typeface="Montserrat"/>
                <a:ea typeface="Arial"/>
              </a:rPr>
              <a:t>Примеры уже имеющихся способов решения данной проблемы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Текст 35"/>
          <p:cNvSpPr/>
          <p:nvPr/>
        </p:nvSpPr>
        <p:spPr>
          <a:xfrm>
            <a:off x="8385480" y="3810240"/>
            <a:ext cx="3263760" cy="2374920"/>
          </a:xfrm>
          <a:prstGeom prst="roundRect">
            <a:avLst>
              <a:gd name="adj" fmla="val 101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49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chemeClr val="lt1"/>
                </a:solidFill>
                <a:latin typeface="Montserrat"/>
                <a:ea typeface="Arial"/>
              </a:rPr>
              <a:t>Ваше предложение решения данной проблемы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Текст 35"/>
          <p:cNvSpPr/>
          <p:nvPr/>
        </p:nvSpPr>
        <p:spPr>
          <a:xfrm>
            <a:off x="516960" y="3252240"/>
            <a:ext cx="3263760" cy="391320"/>
          </a:xfrm>
          <a:prstGeom prst="roundRect">
            <a:avLst>
              <a:gd name="adj" fmla="val 101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  <a:ea typeface="Arial"/>
              </a:rPr>
              <a:t>Проблема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Текст 35"/>
          <p:cNvSpPr/>
          <p:nvPr/>
        </p:nvSpPr>
        <p:spPr>
          <a:xfrm>
            <a:off x="4464720" y="3252240"/>
            <a:ext cx="3263760" cy="391320"/>
          </a:xfrm>
          <a:prstGeom prst="roundRect">
            <a:avLst>
              <a:gd name="adj" fmla="val 101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  <a:ea typeface="Arial"/>
              </a:rPr>
              <a:t>Альтернативные решения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Текст 35"/>
          <p:cNvSpPr/>
          <p:nvPr/>
        </p:nvSpPr>
        <p:spPr>
          <a:xfrm>
            <a:off x="8385480" y="3252240"/>
            <a:ext cx="3263760" cy="391320"/>
          </a:xfrm>
          <a:prstGeom prst="roundRect">
            <a:avLst>
              <a:gd name="adj" fmla="val 101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  <a:ea typeface="Arial"/>
              </a:rPr>
              <a:t>Решение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body"/>
          </p:nvPr>
        </p:nvSpPr>
        <p:spPr>
          <a:xfrm>
            <a:off x="4163040" y="1264320"/>
            <a:ext cx="3865680" cy="243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8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Click to edit the outline text format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Second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Third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Fourth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Fifth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Sixth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Seventh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dt" idx="27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ftr" idx="28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sldNum" idx="29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A2B6BA8-9FBB-483F-97B9-EE443C5AB073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10" name="PlaceHolder 6"/>
          <p:cNvSpPr>
            <a:spLocks noGrp="1"/>
          </p:cNvSpPr>
          <p:nvPr>
            <p:ph type="body"/>
          </p:nvPr>
        </p:nvSpPr>
        <p:spPr>
          <a:xfrm>
            <a:off x="345960" y="4656240"/>
            <a:ext cx="3626640" cy="154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11" name="PlaceHolder 7"/>
          <p:cNvSpPr>
            <a:spLocks noGrp="1"/>
          </p:cNvSpPr>
          <p:nvPr>
            <p:ph type="body"/>
          </p:nvPr>
        </p:nvSpPr>
        <p:spPr>
          <a:xfrm>
            <a:off x="4240440" y="4656240"/>
            <a:ext cx="3626640" cy="154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12" name="PlaceHolder 8"/>
          <p:cNvSpPr>
            <a:spLocks noGrp="1"/>
          </p:cNvSpPr>
          <p:nvPr>
            <p:ph type="body"/>
          </p:nvPr>
        </p:nvSpPr>
        <p:spPr>
          <a:xfrm>
            <a:off x="8230320" y="4656240"/>
            <a:ext cx="3626640" cy="154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body"/>
          </p:nvPr>
        </p:nvSpPr>
        <p:spPr>
          <a:xfrm>
            <a:off x="6894000" y="1044000"/>
            <a:ext cx="4962600" cy="222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Montserrat"/>
                <a:ea typeface="Arial"/>
              </a:rPr>
              <a:t>Фото команды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title"/>
          </p:nvPr>
        </p:nvSpPr>
        <p:spPr>
          <a:xfrm>
            <a:off x="345960" y="395280"/>
            <a:ext cx="1124424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КОМАНДА «НАЗВАНИЕ»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dt" idx="30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ftr" idx="31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32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48B57C8-F7ED-4D28-873B-90884CBA3DD3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title"/>
          </p:nvPr>
        </p:nvSpPr>
        <p:spPr>
          <a:xfrm>
            <a:off x="3531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body"/>
          </p:nvPr>
        </p:nvSpPr>
        <p:spPr>
          <a:xfrm>
            <a:off x="1210680" y="4324320"/>
            <a:ext cx="4121280" cy="16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20" name="PlaceHolder 6"/>
          <p:cNvSpPr>
            <a:spLocks noGrp="1"/>
          </p:cNvSpPr>
          <p:nvPr>
            <p:ph type="body"/>
          </p:nvPr>
        </p:nvSpPr>
        <p:spPr>
          <a:xfrm>
            <a:off x="6858000" y="4324320"/>
            <a:ext cx="4121280" cy="16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21" name="PlaceHolder 7"/>
          <p:cNvSpPr>
            <a:spLocks noGrp="1"/>
          </p:cNvSpPr>
          <p:nvPr>
            <p:ph type="body"/>
          </p:nvPr>
        </p:nvSpPr>
        <p:spPr>
          <a:xfrm>
            <a:off x="1210680" y="1577880"/>
            <a:ext cx="4121280" cy="228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1666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Click to edit the outline text format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Second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Third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Fourth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Fifth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Sixth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Seventh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22" name="PlaceHolder 8"/>
          <p:cNvSpPr>
            <a:spLocks noGrp="1"/>
          </p:cNvSpPr>
          <p:nvPr>
            <p:ph type="body"/>
          </p:nvPr>
        </p:nvSpPr>
        <p:spPr>
          <a:xfrm>
            <a:off x="6855480" y="1577880"/>
            <a:ext cx="4121280" cy="228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1666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Click to edit the outline text format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Second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Third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Fourth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Fifth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Sixth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Seventh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body"/>
          </p:nvPr>
        </p:nvSpPr>
        <p:spPr>
          <a:xfrm>
            <a:off x="5009760" y="1235880"/>
            <a:ext cx="2171880" cy="460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Click to edit the outline text format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Second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Third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Fourth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Fifth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Sixth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Seventh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24" name="Текст 35"/>
          <p:cNvSpPr/>
          <p:nvPr/>
        </p:nvSpPr>
        <p:spPr>
          <a:xfrm>
            <a:off x="356400" y="1641240"/>
            <a:ext cx="38124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65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1"/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356400" y="202068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26" name="Текст 35"/>
          <p:cNvSpPr/>
          <p:nvPr/>
        </p:nvSpPr>
        <p:spPr>
          <a:xfrm>
            <a:off x="8039880" y="1641240"/>
            <a:ext cx="38124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65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e4b8fa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5">
                    <a:lumMod val="20000"/>
                    <a:lumOff val="80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8039880" y="202068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28" name="Текст 35"/>
          <p:cNvSpPr/>
          <p:nvPr/>
        </p:nvSpPr>
        <p:spPr>
          <a:xfrm>
            <a:off x="356400" y="3864600"/>
            <a:ext cx="38124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65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8a83d1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4"/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body"/>
          </p:nvPr>
        </p:nvSpPr>
        <p:spPr>
          <a:xfrm>
            <a:off x="356400" y="424404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30" name="Текст 35"/>
          <p:cNvSpPr/>
          <p:nvPr/>
        </p:nvSpPr>
        <p:spPr>
          <a:xfrm>
            <a:off x="8039880" y="3864600"/>
            <a:ext cx="38124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65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r>
              <a:rPr b="1" lang="ru-RU" sz="1800" spc="-1" strike="noStrike">
                <a:solidFill>
                  <a:schemeClr val="accent2"/>
                </a:solidFill>
                <a:latin typeface="Montserrat"/>
                <a:ea typeface="Arial"/>
              </a:rPr>
              <a:t>Образец текста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8039880" y="424404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cxnSp>
        <p:nvCxnSpPr>
          <p:cNvPr id="132" name="Google Shape;2799;p94"/>
          <p:cNvCxnSpPr/>
          <p:nvPr/>
        </p:nvCxnSpPr>
        <p:spPr>
          <a:xfrm>
            <a:off x="4244400" y="1870200"/>
            <a:ext cx="687240" cy="360"/>
          </a:xfrm>
          <a:prstGeom prst="straightConnector1">
            <a:avLst/>
          </a:prstGeom>
          <a:ln w="25400">
            <a:solidFill>
              <a:srgbClr val="ff0053"/>
            </a:solidFill>
            <a:round/>
          </a:ln>
        </p:spPr>
      </p:cxnSp>
      <p:cxnSp>
        <p:nvCxnSpPr>
          <p:cNvPr id="133" name="Google Shape;2799;p94"/>
          <p:cNvCxnSpPr/>
          <p:nvPr/>
        </p:nvCxnSpPr>
        <p:spPr>
          <a:xfrm>
            <a:off x="4244400" y="4094280"/>
            <a:ext cx="687240" cy="360"/>
          </a:xfrm>
          <a:prstGeom prst="straightConnector1">
            <a:avLst/>
          </a:prstGeom>
          <a:ln w="25400">
            <a:solidFill>
              <a:srgbClr val="520977"/>
            </a:solidFill>
            <a:round/>
          </a:ln>
        </p:spPr>
      </p:cxnSp>
      <p:cxnSp>
        <p:nvCxnSpPr>
          <p:cNvPr id="134" name="Google Shape;2799;p94"/>
          <p:cNvCxnSpPr/>
          <p:nvPr/>
        </p:nvCxnSpPr>
        <p:spPr>
          <a:xfrm>
            <a:off x="7250400" y="1870200"/>
            <a:ext cx="687240" cy="360"/>
          </a:xfrm>
          <a:prstGeom prst="straightConnector1">
            <a:avLst/>
          </a:prstGeom>
          <a:ln w="25400">
            <a:solidFill>
              <a:srgbClr val="520977">
                <a:lumMod val="20000"/>
                <a:lumOff val="80000"/>
              </a:srgbClr>
            </a:solidFill>
            <a:round/>
          </a:ln>
        </p:spPr>
      </p:cxnSp>
      <p:cxnSp>
        <p:nvCxnSpPr>
          <p:cNvPr id="135" name="Google Shape;2799;p94"/>
          <p:cNvCxnSpPr/>
          <p:nvPr/>
        </p:nvCxnSpPr>
        <p:spPr>
          <a:xfrm>
            <a:off x="7250400" y="4094280"/>
            <a:ext cx="687240" cy="360"/>
          </a:xfrm>
          <a:prstGeom prst="straightConnector1">
            <a:avLst/>
          </a:prstGeom>
          <a:ln w="25400">
            <a:solidFill>
              <a:srgbClr val="fc3777"/>
            </a:solidFill>
            <a:round/>
          </a:ln>
        </p:spPr>
      </p:cxnSp>
      <p:sp>
        <p:nvSpPr>
          <p:cNvPr id="136" name="PlaceHolder 6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 type="dt" idx="33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" name="PlaceHolder 8"/>
          <p:cNvSpPr>
            <a:spLocks noGrp="1"/>
          </p:cNvSpPr>
          <p:nvPr>
            <p:ph type="ftr" idx="34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" name="PlaceHolder 9"/>
          <p:cNvSpPr>
            <a:spLocks noGrp="1"/>
          </p:cNvSpPr>
          <p:nvPr>
            <p:ph type="sldNum" idx="35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1BD81769-9A8A-4D26-B1B6-E7D970DD09BD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body"/>
          </p:nvPr>
        </p:nvSpPr>
        <p:spPr>
          <a:xfrm>
            <a:off x="1001520" y="1038240"/>
            <a:ext cx="1725840" cy="365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8333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Click to edit the outline text format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Second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Third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Fourth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Fifth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Sixth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Seventh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3831120" y="1038240"/>
            <a:ext cx="1725840" cy="365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8333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Click to edit the outline text format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Second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Third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Fourth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Fifth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Sixth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Seventh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660720" y="1038240"/>
            <a:ext cx="1725840" cy="365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8333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Click to edit the outline text format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Second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Third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Fourth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Fifth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Sixth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Seventh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9490320" y="1038240"/>
            <a:ext cx="1725840" cy="365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8333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Click to edit the outline text format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Second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Third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Fourth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Fifth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Sixth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Seventh Outline Level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dt" idx="36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" name="PlaceHolder 6"/>
          <p:cNvSpPr>
            <a:spLocks noGrp="1"/>
          </p:cNvSpPr>
          <p:nvPr>
            <p:ph type="ftr" idx="37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PlaceHolder 7"/>
          <p:cNvSpPr>
            <a:spLocks noGrp="1"/>
          </p:cNvSpPr>
          <p:nvPr>
            <p:ph type="sldNum" idx="38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207F2469-5756-4D2A-8A28-79CA79448A0C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PlaceHolder 8"/>
          <p:cNvSpPr>
            <a:spLocks noGrp="1"/>
          </p:cNvSpPr>
          <p:nvPr>
            <p:ph type="body"/>
          </p:nvPr>
        </p:nvSpPr>
        <p:spPr>
          <a:xfrm>
            <a:off x="345960" y="4929480"/>
            <a:ext cx="2738880" cy="127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48" name="PlaceHolder 9"/>
          <p:cNvSpPr>
            <a:spLocks noGrp="1"/>
          </p:cNvSpPr>
          <p:nvPr>
            <p:ph type="body"/>
          </p:nvPr>
        </p:nvSpPr>
        <p:spPr>
          <a:xfrm>
            <a:off x="3269520" y="4929480"/>
            <a:ext cx="2738880" cy="127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49" name="PlaceHolder 10"/>
          <p:cNvSpPr>
            <a:spLocks noGrp="1"/>
          </p:cNvSpPr>
          <p:nvPr>
            <p:ph type="body"/>
          </p:nvPr>
        </p:nvSpPr>
        <p:spPr>
          <a:xfrm>
            <a:off x="6193080" y="4929480"/>
            <a:ext cx="2738880" cy="127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50" name="PlaceHolder 11"/>
          <p:cNvSpPr>
            <a:spLocks noGrp="1"/>
          </p:cNvSpPr>
          <p:nvPr>
            <p:ph type="body"/>
          </p:nvPr>
        </p:nvSpPr>
        <p:spPr>
          <a:xfrm>
            <a:off x="9116640" y="4929480"/>
            <a:ext cx="2738880" cy="127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51" name="PlaceHolder 12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dt" idx="39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ftr" idx="40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1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59EDA24-9A3B-4B30-9B96-C2D71CA81796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title"/>
          </p:nvPr>
        </p:nvSpPr>
        <p:spPr>
          <a:xfrm>
            <a:off x="345960" y="395280"/>
            <a:ext cx="1124424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КОМАНДА «НАЗВАНИЕ»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body"/>
          </p:nvPr>
        </p:nvSpPr>
        <p:spPr>
          <a:xfrm>
            <a:off x="80640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Роль в команде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Telegram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Номер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 type="body"/>
          </p:nvPr>
        </p:nvSpPr>
        <p:spPr>
          <a:xfrm>
            <a:off x="301464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Роль в команде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Telegram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Номер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58" name="PlaceHolder 7"/>
          <p:cNvSpPr>
            <a:spLocks noGrp="1"/>
          </p:cNvSpPr>
          <p:nvPr>
            <p:ph type="body"/>
          </p:nvPr>
        </p:nvSpPr>
        <p:spPr>
          <a:xfrm>
            <a:off x="519120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Роль в команде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Telegram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Номер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59" name="PlaceHolder 8"/>
          <p:cNvSpPr>
            <a:spLocks noGrp="1"/>
          </p:cNvSpPr>
          <p:nvPr>
            <p:ph type="body"/>
          </p:nvPr>
        </p:nvSpPr>
        <p:spPr>
          <a:xfrm>
            <a:off x="736668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Роль в команде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Telegram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Номер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60" name="PlaceHolder 9"/>
          <p:cNvSpPr>
            <a:spLocks noGrp="1"/>
          </p:cNvSpPr>
          <p:nvPr>
            <p:ph type="body"/>
          </p:nvPr>
        </p:nvSpPr>
        <p:spPr>
          <a:xfrm>
            <a:off x="954216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Роль в команде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Telegram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Номер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dt" idx="42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ftr" idx="43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4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8F4726DA-7DCA-4DA7-9FD2-DE72CB93C96D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body"/>
          </p:nvPr>
        </p:nvSpPr>
        <p:spPr>
          <a:xfrm>
            <a:off x="315360" y="1016280"/>
            <a:ext cx="11561040" cy="516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dt" idx="45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ftr" idx="46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sldNum" idx="47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90DBF972-12B2-45C1-A5BB-11B96084FF0D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body"/>
          </p:nvPr>
        </p:nvSpPr>
        <p:spPr>
          <a:xfrm>
            <a:off x="315360" y="1015920"/>
            <a:ext cx="5704200" cy="518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172200" y="1015920"/>
            <a:ext cx="5670000" cy="518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dt" idx="48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ftr" idx="49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sldNum" idx="50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82B71922-38A8-44B3-B8F6-382C3DC10521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" name="PlaceHolder 6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body"/>
          </p:nvPr>
        </p:nvSpPr>
        <p:spPr>
          <a:xfrm>
            <a:off x="315360" y="1015560"/>
            <a:ext cx="5681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1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349200" y="1598760"/>
            <a:ext cx="5648040" cy="460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6172200" y="1015560"/>
            <a:ext cx="5684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1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body"/>
          </p:nvPr>
        </p:nvSpPr>
        <p:spPr>
          <a:xfrm>
            <a:off x="6172200" y="1598760"/>
            <a:ext cx="5670000" cy="460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4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9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 type="dt" idx="51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PlaceHolder 6"/>
          <p:cNvSpPr>
            <a:spLocks noGrp="1"/>
          </p:cNvSpPr>
          <p:nvPr>
            <p:ph type="ftr" idx="52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" name="PlaceHolder 7"/>
          <p:cNvSpPr>
            <a:spLocks noGrp="1"/>
          </p:cNvSpPr>
          <p:nvPr>
            <p:ph type="sldNum" idx="53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273BBC2A-5BE0-42C1-936F-B04F253FC110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" name="PlaceHolder 8"/>
          <p:cNvSpPr>
            <a:spLocks noGrp="1"/>
          </p:cNvSpPr>
          <p:nvPr>
            <p:ph type="title"/>
          </p:nvPr>
        </p:nvSpPr>
        <p:spPr>
          <a:xfrm>
            <a:off x="34920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dt" idx="54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ftr" idx="55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56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A03AE39-A400-4EE9-88AC-F52123C97236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334800" y="1015920"/>
            <a:ext cx="4436640" cy="121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ЗАГОЛОВКА</a:t>
            </a:r>
            <a:endParaRPr b="0" lang="ru-RU" sz="24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5183280" y="1015920"/>
            <a:ext cx="6673320" cy="504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7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Второй уровень</a:t>
            </a:r>
            <a:endParaRPr b="0" lang="ru-RU" sz="15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2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Третий уровень</a:t>
            </a:r>
            <a:endParaRPr b="0" lang="ru-RU" sz="12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1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Четвертый уровень</a:t>
            </a:r>
            <a:endParaRPr b="0" lang="ru-RU" sz="11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b="0" lang="ru-RU" sz="11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Пятый уровень</a:t>
            </a:r>
            <a:endParaRPr b="0" lang="ru-RU" sz="11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334800" y="2428200"/>
            <a:ext cx="4436640" cy="363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Образец текста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dt" idx="57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5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&lt;date/time&gt;</a:t>
            </a:r>
            <a:endParaRPr b="0" lang="en-US" sz="7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 type="ftr" idx="58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PlaceHolder 6"/>
          <p:cNvSpPr>
            <a:spLocks noGrp="1"/>
          </p:cNvSpPr>
          <p:nvPr>
            <p:ph type="sldNum" idx="59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D7A459FD-3F37-485B-8937-D19573550952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9.jpeg"/><Relationship Id="rId6" Type="http://schemas.openxmlformats.org/officeDocument/2006/relationships/slideLayout" Target="../slideLayouts/slideLayout17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0" y="3894480"/>
            <a:ext cx="6271560" cy="170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68200" indent="0" defTabSz="5788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Команда «Видишь плату - я заплатил»</a:t>
            </a:r>
            <a:endParaRPr b="0" lang="ru-RU" sz="36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0" y="5659560"/>
            <a:ext cx="8930160" cy="75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Задача №2 Получение доступа к прошивке современной компьютерной платы с использованием различных техник реверс-инжиниринга</a:t>
            </a: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00" name="Скругленный прямоугольник 1"/>
          <p:cNvSpPr/>
          <p:nvPr/>
        </p:nvSpPr>
        <p:spPr>
          <a:xfrm>
            <a:off x="-296640" y="-313920"/>
            <a:ext cx="6124680" cy="2285280"/>
          </a:xfrm>
          <a:prstGeom prst="roundRect">
            <a:avLst>
              <a:gd name="adj" fmla="val 9821"/>
            </a:avLst>
          </a:prstGeom>
          <a:noFill/>
          <a:ln w="9525">
            <a:solidFill>
              <a:srgbClr val="ffd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  <a:ea typeface="Arial"/>
            </a:endParaRPr>
          </a:p>
        </p:txBody>
      </p:sp>
      <p:pic>
        <p:nvPicPr>
          <p:cNvPr id="201" name="Image 17" descr=" "/>
          <p:cNvPicPr/>
          <p:nvPr/>
        </p:nvPicPr>
        <p:blipFill>
          <a:blip r:embed="rId1"/>
          <a:stretch/>
        </p:blipFill>
        <p:spPr>
          <a:xfrm>
            <a:off x="996840" y="596880"/>
            <a:ext cx="3470760" cy="82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Прямоугольник 2"/>
          <p:cNvSpPr/>
          <p:nvPr/>
        </p:nvSpPr>
        <p:spPr>
          <a:xfrm>
            <a:off x="0" y="2971800"/>
            <a:ext cx="6455880" cy="3885840"/>
          </a:xfrm>
          <a:prstGeom prst="rect">
            <a:avLst/>
          </a:prstGeom>
          <a:solidFill>
            <a:srgbClr val="dccee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Montserrat"/>
              <a:ea typeface="Arial"/>
            </a:endParaRPr>
          </a:p>
        </p:txBody>
      </p:sp>
      <p:pic>
        <p:nvPicPr>
          <p:cNvPr id="203" name="Рисунок 1" descr=""/>
          <p:cNvPicPr/>
          <p:nvPr/>
        </p:nvPicPr>
        <p:blipFill>
          <a:blip r:embed="rId2"/>
          <a:stretch/>
        </p:blipFill>
        <p:spPr>
          <a:xfrm>
            <a:off x="587880" y="335160"/>
            <a:ext cx="5279760" cy="2971440"/>
          </a:xfrm>
          <a:prstGeom prst="rect">
            <a:avLst/>
          </a:prstGeom>
          <a:ln w="0">
            <a:noFill/>
          </a:ln>
        </p:spPr>
      </p:pic>
      <p:sp>
        <p:nvSpPr>
          <p:cNvPr id="204" name="Текст 8"/>
          <p:cNvSpPr/>
          <p:nvPr/>
        </p:nvSpPr>
        <p:spPr>
          <a:xfrm>
            <a:off x="6819840" y="2303280"/>
            <a:ext cx="4945320" cy="6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  <a:ea typeface="Arial"/>
              </a:rPr>
              <a:t>Краткое описание решения: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Текст 8"/>
          <p:cNvSpPr/>
          <p:nvPr/>
        </p:nvSpPr>
        <p:spPr>
          <a:xfrm>
            <a:off x="6836760" y="4876200"/>
            <a:ext cx="4945320" cy="16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1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Мы строим полную картину: дамп флеша, реверс, анализ USB-дескрипторов, поиск состояния разблокировки, атаки по сторонним каналам, fault injection. Плюс всё документируем — получается воспроизводимая методика, а не разовый взлом.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Текст 8"/>
          <p:cNvSpPr/>
          <p:nvPr/>
        </p:nvSpPr>
        <p:spPr>
          <a:xfrm>
            <a:off x="334800" y="3882960"/>
            <a:ext cx="5629320" cy="263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44720" indent="-144720" defTabSz="578880">
              <a:lnSpc>
                <a:spcPct val="120000"/>
              </a:lnSpc>
              <a:buClr>
                <a:srgbClr val="ff0053"/>
              </a:buClr>
              <a:buFont typeface="Wingdings" charset="2"/>
              <a:buChar char=""/>
            </a:pPr>
            <a:r>
              <a:rPr b="1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Капитан: </a:t>
            </a: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Вычужанин Олег Павлович, криптография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44720" indent="-144720" defTabSz="578880">
              <a:lnSpc>
                <a:spcPct val="120000"/>
              </a:lnSpc>
              <a:buClr>
                <a:srgbClr val="ff0053"/>
              </a:buClr>
              <a:buFont typeface="Wingdings" charset="2"/>
              <a:buChar char=""/>
            </a:pPr>
            <a:r>
              <a:rPr b="1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Кол-во участников: </a:t>
            </a: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4 человека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44720" indent="-144720" defTabSz="578880">
              <a:lnSpc>
                <a:spcPct val="120000"/>
              </a:lnSpc>
              <a:buClr>
                <a:srgbClr val="ff0053"/>
              </a:buClr>
              <a:buFont typeface="Wingdings" charset="2"/>
              <a:buChar char=""/>
            </a:pPr>
            <a:r>
              <a:rPr b="1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Краткое описание: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44720" indent="-144720" defTabSz="578880">
              <a:lnSpc>
                <a:spcPct val="120000"/>
              </a:lnSpc>
              <a:buClr>
                <a:srgbClr val="ff0053"/>
              </a:buClr>
              <a:buFont typeface="Wingdings" charset="2"/>
              <a:buChar char="-"/>
            </a:pPr>
            <a:r>
              <a:rPr b="0" i="1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Четыре студента МИФИ, одна учебная группа. Познакомились на парах, раньше вместе проектов не делали. Все участники на момент подачи — студенты, профессионального опыта в команде нет. 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44720" indent="-144720" defTabSz="578880">
              <a:lnSpc>
                <a:spcPct val="120000"/>
              </a:lnSpc>
              <a:buClr>
                <a:srgbClr val="ff0053"/>
              </a:buClr>
              <a:buFont typeface="Wingdings" charset="2"/>
              <a:buChar char="-"/>
            </a:pPr>
            <a:r>
              <a:rPr b="0" i="1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НИЯУ МИФИ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44720" indent="-144720" defTabSz="578880">
              <a:lnSpc>
                <a:spcPct val="120000"/>
              </a:lnSpc>
              <a:buClr>
                <a:srgbClr val="ff0053"/>
              </a:buClr>
              <a:buFont typeface="Wingdings" charset="2"/>
              <a:buChar char=""/>
            </a:pPr>
            <a:r>
              <a:rPr b="1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Город и регион: </a:t>
            </a: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Москва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Текст 8"/>
          <p:cNvSpPr/>
          <p:nvPr/>
        </p:nvSpPr>
        <p:spPr>
          <a:xfrm>
            <a:off x="334800" y="3484800"/>
            <a:ext cx="298980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  <a:ea typeface="Arial"/>
              </a:rPr>
              <a:t>О команде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819840" y="1039320"/>
            <a:ext cx="3636360" cy="101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400" spc="-1" strike="noStrike">
                <a:solidFill>
                  <a:schemeClr val="accent5"/>
                </a:solidFill>
                <a:latin typeface="Montserrat"/>
                <a:ea typeface="Arial"/>
              </a:rPr>
              <a:t>Команда «Видишь плату - я заплатил»</a:t>
            </a:r>
            <a:endParaRPr b="0" lang="ru-RU" sz="2400" spc="-1" strike="noStrike">
              <a:solidFill>
                <a:schemeClr val="dk1"/>
              </a:solidFill>
              <a:latin typeface="Montserrat"/>
            </a:endParaRPr>
          </a:p>
        </p:txBody>
      </p:sp>
      <p:cxnSp>
        <p:nvCxnSpPr>
          <p:cNvPr id="209" name="Прямая соединительная линия 6"/>
          <p:cNvCxnSpPr/>
          <p:nvPr/>
        </p:nvCxnSpPr>
        <p:spPr>
          <a:xfrm>
            <a:off x="6880680" y="2239920"/>
            <a:ext cx="4885200" cy="360"/>
          </a:xfrm>
          <a:prstGeom prst="straightConnector1">
            <a:avLst/>
          </a:prstGeom>
          <a:ln w="12700">
            <a:solidFill>
              <a:srgbClr val="520977"/>
            </a:solidFill>
          </a:ln>
        </p:spPr>
      </p:cxnSp>
      <p:cxnSp>
        <p:nvCxnSpPr>
          <p:cNvPr id="210" name="Прямая соединительная линия 15"/>
          <p:cNvCxnSpPr/>
          <p:nvPr/>
        </p:nvCxnSpPr>
        <p:spPr>
          <a:xfrm>
            <a:off x="6897240" y="4437720"/>
            <a:ext cx="4885200" cy="360"/>
          </a:xfrm>
          <a:prstGeom prst="straightConnector1">
            <a:avLst/>
          </a:prstGeom>
          <a:ln w="12700">
            <a:solidFill>
              <a:srgbClr val="520977"/>
            </a:solidFill>
          </a:ln>
        </p:spPr>
      </p:cxnSp>
      <p:cxnSp>
        <p:nvCxnSpPr>
          <p:cNvPr id="211" name="Прямая соединительная линия 16"/>
          <p:cNvCxnSpPr/>
          <p:nvPr/>
        </p:nvCxnSpPr>
        <p:spPr>
          <a:xfrm>
            <a:off x="395640" y="3448440"/>
            <a:ext cx="5700600" cy="360"/>
          </a:xfrm>
          <a:prstGeom prst="straightConnector1">
            <a:avLst/>
          </a:prstGeom>
          <a:ln>
            <a:solidFill>
              <a:srgbClr val="520977"/>
            </a:solidFill>
          </a:ln>
        </p:spPr>
      </p:cxnSp>
      <p:sp>
        <p:nvSpPr>
          <p:cNvPr id="212" name="Текст 8"/>
          <p:cNvSpPr/>
          <p:nvPr/>
        </p:nvSpPr>
        <p:spPr>
          <a:xfrm>
            <a:off x="6819840" y="4541760"/>
            <a:ext cx="4945320" cy="6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  <a:ea typeface="Arial"/>
              </a:rPr>
              <a:t>Уникальность решения: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Текст 8"/>
          <p:cNvSpPr/>
          <p:nvPr/>
        </p:nvSpPr>
        <p:spPr>
          <a:xfrm>
            <a:off x="6807960" y="2620080"/>
            <a:ext cx="4945320" cy="16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Задача — получить доступ к файлу your_prize.zip, который лежит внутри зашифрованного дискового образа на плате RP2040. Работаем по worst-case: предполагаем, что включены security bit, проверки CRC прошивки и прочие неприятности, которые встречаются а реальных условиях.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Номер слайда 35"/>
          <p:cNvSpPr/>
          <p:nvPr/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fld id="{AC77ACA0-0DA9-4475-AFFF-22D86976DEE6}" type="slidenum">
              <a:rPr b="0" lang="ru-RU" sz="1200" spc="-1" strike="noStrike">
                <a:solidFill>
                  <a:schemeClr val="accent5"/>
                </a:solidFill>
                <a:latin typeface="Montserrat"/>
                <a:ea typeface="Arial"/>
              </a:rPr>
              <a:t>2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Скругленный прямоугольник 55"/>
          <p:cNvSpPr/>
          <p:nvPr/>
        </p:nvSpPr>
        <p:spPr>
          <a:xfrm>
            <a:off x="3856680" y="1522080"/>
            <a:ext cx="2192400" cy="4834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  <a:ea typeface="Arial"/>
            </a:endParaRPr>
          </a:p>
        </p:txBody>
      </p:sp>
      <p:sp>
        <p:nvSpPr>
          <p:cNvPr id="216" name="Текст 8"/>
          <p:cNvSpPr/>
          <p:nvPr/>
        </p:nvSpPr>
        <p:spPr>
          <a:xfrm>
            <a:off x="4029120" y="4250160"/>
            <a:ext cx="1893960" cy="19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Руководитель рабочей группы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Специалист по моральной поддержке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@</a:t>
            </a:r>
            <a:r>
              <a:rPr b="0" lang="en-US" sz="1200" spc="-1" strike="noStrike">
                <a:solidFill>
                  <a:schemeClr val="dk1"/>
                </a:solidFill>
                <a:latin typeface="Montserrat"/>
                <a:ea typeface="Arial"/>
              </a:rPr>
              <a:t>OxFFCAFEBABE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+7 961 459 83 86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НИЯУ МИФИ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Текст 8"/>
          <p:cNvSpPr/>
          <p:nvPr/>
        </p:nvSpPr>
        <p:spPr>
          <a:xfrm>
            <a:off x="4029120" y="3621960"/>
            <a:ext cx="172224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  <a:ea typeface="Arial"/>
              </a:rPr>
              <a:t>Олег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  <a:ea typeface="Arial"/>
              </a:rPr>
              <a:t>Вычужанин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Скругленный прямоугольник 58"/>
          <p:cNvSpPr/>
          <p:nvPr/>
        </p:nvSpPr>
        <p:spPr>
          <a:xfrm>
            <a:off x="6162120" y="1522080"/>
            <a:ext cx="2192400" cy="4834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  <a:ea typeface="Arial"/>
            </a:endParaRPr>
          </a:p>
        </p:txBody>
      </p:sp>
      <p:sp>
        <p:nvSpPr>
          <p:cNvPr id="219" name="Текст 8"/>
          <p:cNvSpPr/>
          <p:nvPr/>
        </p:nvSpPr>
        <p:spPr>
          <a:xfrm>
            <a:off x="6334200" y="4250160"/>
            <a:ext cx="1893960" cy="19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Специалист по информационной безопасности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Специалист по моральной поддержке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Montserrat"/>
                <a:ea typeface="Arial"/>
              </a:rPr>
              <a:t>@Hakatoon4ik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+7 909 158 00 54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НИЯУ МИФИ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Текст 8"/>
          <p:cNvSpPr/>
          <p:nvPr/>
        </p:nvSpPr>
        <p:spPr>
          <a:xfrm>
            <a:off x="6334200" y="3621960"/>
            <a:ext cx="172224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  <a:ea typeface="Arial"/>
              </a:rPr>
              <a:t>Никита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  <a:ea typeface="Arial"/>
              </a:rPr>
              <a:t>Разгоняев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Скругленный прямоугольник 61"/>
          <p:cNvSpPr/>
          <p:nvPr/>
        </p:nvSpPr>
        <p:spPr>
          <a:xfrm>
            <a:off x="8467200" y="1522080"/>
            <a:ext cx="2192400" cy="4834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  <a:ea typeface="Arial"/>
            </a:endParaRPr>
          </a:p>
        </p:txBody>
      </p:sp>
      <p:sp>
        <p:nvSpPr>
          <p:cNvPr id="222" name="Текст 8"/>
          <p:cNvSpPr/>
          <p:nvPr/>
        </p:nvSpPr>
        <p:spPr>
          <a:xfrm>
            <a:off x="8639640" y="4250160"/>
            <a:ext cx="1893960" cy="19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Специалист по информационной безопасности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Инженер-электронщик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@</a:t>
            </a:r>
            <a:r>
              <a:rPr b="0" lang="en-US" sz="1200" spc="-1" strike="noStrike">
                <a:solidFill>
                  <a:schemeClr val="dk1"/>
                </a:solidFill>
                <a:latin typeface="Montserrat"/>
                <a:ea typeface="Arial"/>
              </a:rPr>
              <a:t>bubrikkk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+7 </a:t>
            </a:r>
            <a:r>
              <a:rPr b="0" lang="en-US" sz="1200" spc="-1" strike="noStrike">
                <a:solidFill>
                  <a:schemeClr val="dk1"/>
                </a:solidFill>
                <a:latin typeface="Montserrat"/>
                <a:ea typeface="Arial"/>
              </a:rPr>
              <a:t>993</a:t>
            </a: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 </a:t>
            </a:r>
            <a:r>
              <a:rPr b="0" lang="en-US" sz="1200" spc="-1" strike="noStrike">
                <a:solidFill>
                  <a:schemeClr val="dk1"/>
                </a:solidFill>
                <a:latin typeface="Montserrat"/>
                <a:ea typeface="Arial"/>
              </a:rPr>
              <a:t>337</a:t>
            </a: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 </a:t>
            </a:r>
            <a:r>
              <a:rPr b="0" lang="en-US" sz="1200" spc="-1" strike="noStrike">
                <a:solidFill>
                  <a:schemeClr val="dk1"/>
                </a:solidFill>
                <a:latin typeface="Montserrat"/>
                <a:ea typeface="Arial"/>
              </a:rPr>
              <a:t>74</a:t>
            </a: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 </a:t>
            </a:r>
            <a:r>
              <a:rPr b="0" lang="en-US" sz="1200" spc="-1" strike="noStrike">
                <a:solidFill>
                  <a:schemeClr val="dk1"/>
                </a:solidFill>
                <a:latin typeface="Montserrat"/>
                <a:ea typeface="Arial"/>
              </a:rPr>
              <a:t>50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НИЯУ МИФИ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Текст 8"/>
          <p:cNvSpPr/>
          <p:nvPr/>
        </p:nvSpPr>
        <p:spPr>
          <a:xfrm>
            <a:off x="8639640" y="3621960"/>
            <a:ext cx="172224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  <a:ea typeface="Arial"/>
              </a:rPr>
              <a:t>Григорий Ожередов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Скругленный прямоугольник 16"/>
          <p:cNvSpPr/>
          <p:nvPr/>
        </p:nvSpPr>
        <p:spPr>
          <a:xfrm>
            <a:off x="1551600" y="1522080"/>
            <a:ext cx="2192400" cy="4834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  <a:ea typeface="Arial"/>
            </a:endParaRPr>
          </a:p>
        </p:txBody>
      </p:sp>
      <p:sp>
        <p:nvSpPr>
          <p:cNvPr id="225" name="Скругленный прямоугольник 12"/>
          <p:cNvSpPr/>
          <p:nvPr/>
        </p:nvSpPr>
        <p:spPr>
          <a:xfrm>
            <a:off x="345960" y="324720"/>
            <a:ext cx="605052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  <a:ea typeface="Arial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sldNum" idx="63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/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D6D0BBC-B184-4330-B7F8-4FA7ABB317F9}" type="slidenum">
              <a:rPr b="0" lang="ru-RU" sz="1200" spc="-1" strike="noStrike">
                <a:solidFill>
                  <a:schemeClr val="lt1"/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27" name="Рисунок 3" descr=""/>
          <p:cNvPicPr/>
          <p:nvPr/>
        </p:nvPicPr>
        <p:blipFill>
          <a:blip r:embed="rId2"/>
          <a:srcRect l="13214" t="0" r="13214" b="0"/>
          <a:stretch/>
        </p:blipFill>
        <p:spPr>
          <a:xfrm>
            <a:off x="1787400" y="1816200"/>
            <a:ext cx="1722240" cy="1552320"/>
          </a:xfrm>
          <a:prstGeom prst="rect">
            <a:avLst/>
          </a:prstGeom>
          <a:ln w="0">
            <a:noFill/>
          </a:ln>
        </p:spPr>
      </p:pic>
      <p:pic>
        <p:nvPicPr>
          <p:cNvPr id="228" name="Рисунок 4" descr=""/>
          <p:cNvPicPr/>
          <p:nvPr/>
        </p:nvPicPr>
        <p:blipFill>
          <a:blip r:embed="rId3"/>
          <a:srcRect l="0" t="16397" r="0" b="16397"/>
          <a:stretch/>
        </p:blipFill>
        <p:spPr>
          <a:xfrm>
            <a:off x="4092480" y="1827360"/>
            <a:ext cx="1722240" cy="1541160"/>
          </a:xfrm>
          <a:prstGeom prst="rect">
            <a:avLst/>
          </a:prstGeom>
          <a:ln w="0">
            <a:noFill/>
          </a:ln>
        </p:spPr>
      </p:pic>
      <p:pic>
        <p:nvPicPr>
          <p:cNvPr id="229" name="Рисунок 6" descr=""/>
          <p:cNvPicPr/>
          <p:nvPr/>
        </p:nvPicPr>
        <p:blipFill>
          <a:blip r:embed="rId4"/>
          <a:srcRect l="0" t="4749" r="0" b="4749"/>
          <a:stretch/>
        </p:blipFill>
        <p:spPr>
          <a:xfrm>
            <a:off x="6397560" y="1809720"/>
            <a:ext cx="1722240" cy="1558440"/>
          </a:xfrm>
          <a:prstGeom prst="rect">
            <a:avLst/>
          </a:prstGeom>
          <a:ln w="0">
            <a:noFill/>
          </a:ln>
        </p:spPr>
      </p:pic>
      <p:pic>
        <p:nvPicPr>
          <p:cNvPr id="230" name="Рисунок 2" descr=""/>
          <p:cNvPicPr/>
          <p:nvPr/>
        </p:nvPicPr>
        <p:blipFill>
          <a:blip r:embed="rId5"/>
          <a:srcRect l="16053" t="0" r="16053" b="0"/>
          <a:stretch/>
        </p:blipFill>
        <p:spPr>
          <a:xfrm rot="16200000">
            <a:off x="8805960" y="1727280"/>
            <a:ext cx="1558440" cy="1722240"/>
          </a:xfrm>
          <a:prstGeom prst="rect">
            <a:avLst/>
          </a:prstGeom>
          <a:ln w="0">
            <a:noFill/>
          </a:ln>
        </p:spPr>
      </p:pic>
      <p:sp>
        <p:nvSpPr>
          <p:cNvPr id="231" name="PlaceHolder 2"/>
          <p:cNvSpPr>
            <a:spLocks noGrp="1"/>
          </p:cNvSpPr>
          <p:nvPr>
            <p:ph type="title"/>
          </p:nvPr>
        </p:nvSpPr>
        <p:spPr>
          <a:xfrm>
            <a:off x="518400" y="44964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КОМАНДА «Видишь плату - я заплатил»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1723680" y="4250160"/>
            <a:ext cx="1893960" cy="193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Специалист по реверс-инжинирингу</a:t>
            </a:r>
            <a:endParaRPr b="0" lang="ru-RU" sz="12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Аналитик бинарного кода и прошивок</a:t>
            </a:r>
            <a:endParaRPr b="0" lang="ru-RU" sz="12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Montserrat"/>
                <a:ea typeface="Arial"/>
              </a:rPr>
              <a:t>@undercovermartian</a:t>
            </a:r>
            <a:endParaRPr b="0" lang="ru-RU" sz="11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+7 922 500 71 84</a:t>
            </a:r>
            <a:endParaRPr b="0" lang="ru-RU" sz="12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  <a:ea typeface="Arial"/>
              </a:rPr>
              <a:t>НИЯУ МИФИ</a:t>
            </a:r>
            <a:endParaRPr b="0" lang="ru-RU" sz="12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33" name="Текст 8"/>
          <p:cNvSpPr/>
          <p:nvPr/>
        </p:nvSpPr>
        <p:spPr>
          <a:xfrm>
            <a:off x="1723680" y="3621960"/>
            <a:ext cx="172224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  <a:ea typeface="Arial"/>
              </a:rPr>
              <a:t>Денис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  <a:ea typeface="Arial"/>
              </a:rPr>
              <a:t>Пуйко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Скругленный прямоугольник 12"/>
          <p:cNvSpPr/>
          <p:nvPr/>
        </p:nvSpPr>
        <p:spPr>
          <a:xfrm>
            <a:off x="345960" y="324720"/>
            <a:ext cx="605052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  <a:ea typeface="Arial"/>
            </a:endParaRPr>
          </a:p>
        </p:txBody>
      </p:sp>
      <p:sp>
        <p:nvSpPr>
          <p:cNvPr id="235" name="PlaceHolder 1"/>
          <p:cNvSpPr>
            <a:spLocks noGrp="1"/>
          </p:cNvSpPr>
          <p:nvPr>
            <p:ph type="sldNum" idx="64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5E6410D4-BA2E-4C95-AD06-67017C5426A6}" type="slidenum">
              <a:rPr b="0" lang="ru-RU" sz="1200" spc="-1" strike="noStrike">
                <a:solidFill>
                  <a:schemeClr val="accent5"/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title"/>
          </p:nvPr>
        </p:nvSpPr>
        <p:spPr>
          <a:xfrm>
            <a:off x="507960" y="44964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КОМАНДА «Видишь плату - я заплатил»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533520" y="1602360"/>
            <a:ext cx="10879560" cy="93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578880">
              <a:lnSpc>
                <a:spcPct val="10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Собрались прямо на хакатоне. Увидели задачу, переглянулись, решили попробовать. Раньше вместе не работали, так что это дебют. Внутри — спорим, аргументируем, распределяем роли. Классическая студенческая команда без общей истории.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38" name="Текст 8"/>
          <p:cNvSpPr/>
          <p:nvPr/>
        </p:nvSpPr>
        <p:spPr>
          <a:xfrm>
            <a:off x="533520" y="1279800"/>
            <a:ext cx="298980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chemeClr val="accent5"/>
                </a:solidFill>
                <a:latin typeface="Montserrat"/>
                <a:ea typeface="Arial"/>
              </a:rPr>
              <a:t>Краткая история команды: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Текст 8"/>
          <p:cNvSpPr/>
          <p:nvPr/>
        </p:nvSpPr>
        <p:spPr>
          <a:xfrm>
            <a:off x="533520" y="5139360"/>
            <a:ext cx="10879560" cy="12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Основные сложности: ограничение доступа к `picotool` (устранено udev-правилом) и отсутствие USB-энумерации без BOOTSEL — условие разблокировки реализовано в конечном автомате, что потребовало ручного анализа Thumb-кода и поиска ключа к зашифрованному образу.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Инструментальная часть: собраны FLIRT-сигнатуры pico-sdk 2.2.0/TinyUSB, выполнен патч SVD-Loader под IDA 9.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Текст 8"/>
          <p:cNvSpPr/>
          <p:nvPr/>
        </p:nvSpPr>
        <p:spPr>
          <a:xfrm>
            <a:off x="533520" y="4571640"/>
            <a:ext cx="6438240" cy="62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1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chemeClr val="accent5"/>
                </a:solidFill>
                <a:latin typeface="Montserrat"/>
                <a:ea typeface="Arial"/>
              </a:rPr>
              <a:t>С какими основными сложностями или вызовами </a:t>
            </a:r>
            <a:br>
              <a:rPr sz="1400"/>
            </a:br>
            <a:r>
              <a:rPr b="1" lang="ru-RU" sz="1400" spc="-1" strike="noStrike">
                <a:solidFill>
                  <a:schemeClr val="accent5"/>
                </a:solidFill>
                <a:latin typeface="Montserrat"/>
                <a:ea typeface="Arial"/>
              </a:rPr>
              <a:t>вы столкнулись и как их преодолели?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Текст 8"/>
          <p:cNvSpPr/>
          <p:nvPr/>
        </p:nvSpPr>
        <p:spPr>
          <a:xfrm>
            <a:off x="533520" y="3429000"/>
            <a:ext cx="10879560" cy="10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Потому что она самая тяжёлая. Тут и реверс бинарников, и аппаратные атаки, и криптография. Плюс тема обратного инжиниринга и импортозамещения сейчас реально важна. Нас зацепило, что можно залезть внутрь платы, понять, как она шифрует данные, и обойти защиту. Это не «сделать сайт за вечер», тут надо копать.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Текст 8"/>
          <p:cNvSpPr/>
          <p:nvPr/>
        </p:nvSpPr>
        <p:spPr>
          <a:xfrm>
            <a:off x="533520" y="2900160"/>
            <a:ext cx="56293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chemeClr val="accent5"/>
                </a:solidFill>
                <a:latin typeface="Montserrat"/>
                <a:ea typeface="Arial"/>
              </a:rPr>
              <a:t>Почему вы выбрали именно эту задачу </a:t>
            </a:r>
            <a:br>
              <a:rPr sz="1400"/>
            </a:br>
            <a:r>
              <a:rPr b="1" lang="ru-RU" sz="1400" spc="-1" strike="noStrike">
                <a:solidFill>
                  <a:schemeClr val="accent5"/>
                </a:solidFill>
                <a:latin typeface="Montserrat"/>
                <a:ea typeface="Arial"/>
              </a:rPr>
              <a:t>из предложенных на хакатоне?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3" name="Прямая соединительная линия 4"/>
          <p:cNvCxnSpPr/>
          <p:nvPr/>
        </p:nvCxnSpPr>
        <p:spPr>
          <a:xfrm>
            <a:off x="623880" y="2745360"/>
            <a:ext cx="11233440" cy="360"/>
          </a:xfrm>
          <a:prstGeom prst="straightConnector1">
            <a:avLst/>
          </a:prstGeom>
          <a:ln>
            <a:solidFill>
              <a:srgbClr val="ff0053"/>
            </a:solidFill>
          </a:ln>
        </p:spPr>
      </p:cxnSp>
      <p:cxnSp>
        <p:nvCxnSpPr>
          <p:cNvPr id="244" name="Прямая соединительная линия 5"/>
          <p:cNvCxnSpPr/>
          <p:nvPr/>
        </p:nvCxnSpPr>
        <p:spPr>
          <a:xfrm>
            <a:off x="623880" y="4406760"/>
            <a:ext cx="11233440" cy="360"/>
          </a:xfrm>
          <a:prstGeom prst="straightConnector1">
            <a:avLst/>
          </a:prstGeom>
          <a:ln>
            <a:solidFill>
              <a:srgbClr val="ff0053"/>
            </a:solidFill>
          </a:ln>
        </p:spPr>
      </p:cxnSp>
      <p:cxnSp>
        <p:nvCxnSpPr>
          <p:cNvPr id="245" name="Прямая соединительная линия 7"/>
          <p:cNvCxnSpPr/>
          <p:nvPr/>
        </p:nvCxnSpPr>
        <p:spPr>
          <a:xfrm>
            <a:off x="623880" y="1109880"/>
            <a:ext cx="11233440" cy="360"/>
          </a:xfrm>
          <a:prstGeom prst="straightConnector1">
            <a:avLst/>
          </a:prstGeom>
          <a:ln>
            <a:solidFill>
              <a:srgbClr val="ff0053"/>
            </a:solidFill>
          </a:ln>
        </p:spPr>
      </p:cxnSp>
      <p:sp>
        <p:nvSpPr>
          <p:cNvPr id="246" name="Текст 8"/>
          <p:cNvSpPr/>
          <p:nvPr/>
        </p:nvSpPr>
        <p:spPr>
          <a:xfrm>
            <a:off x="11015640" y="1279800"/>
            <a:ext cx="95652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r"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chemeClr val="accent5"/>
                </a:solidFill>
                <a:latin typeface="Montserrat"/>
                <a:ea typeface="Arial"/>
              </a:rPr>
              <a:t>01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Текст 8"/>
          <p:cNvSpPr/>
          <p:nvPr/>
        </p:nvSpPr>
        <p:spPr>
          <a:xfrm>
            <a:off x="11015640" y="2900160"/>
            <a:ext cx="9302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r"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chemeClr val="accent5"/>
                </a:solidFill>
                <a:latin typeface="Montserrat"/>
                <a:ea typeface="Arial"/>
              </a:rPr>
              <a:t>02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Текст 8"/>
          <p:cNvSpPr/>
          <p:nvPr/>
        </p:nvSpPr>
        <p:spPr>
          <a:xfrm>
            <a:off x="11015640" y="4571640"/>
            <a:ext cx="930240" cy="5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r"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chemeClr val="accent5"/>
                </a:solidFill>
                <a:latin typeface="Montserrat"/>
                <a:ea typeface="Arial"/>
              </a:rPr>
              <a:t>03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Скругленный прямоугольник 9"/>
          <p:cNvSpPr/>
          <p:nvPr/>
        </p:nvSpPr>
        <p:spPr>
          <a:xfrm>
            <a:off x="345960" y="324720"/>
            <a:ext cx="375048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  <a:ea typeface="Arial"/>
            </a:endParaRPr>
          </a:p>
        </p:txBody>
      </p:sp>
      <p:sp>
        <p:nvSpPr>
          <p:cNvPr id="250" name="Скругленный прямоугольник 23"/>
          <p:cNvSpPr/>
          <p:nvPr/>
        </p:nvSpPr>
        <p:spPr>
          <a:xfrm>
            <a:off x="6230880" y="1211400"/>
            <a:ext cx="5439960" cy="4989240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  <a:ea typeface="Arial"/>
            </a:endParaRPr>
          </a:p>
        </p:txBody>
      </p:sp>
      <p:sp>
        <p:nvSpPr>
          <p:cNvPr id="251" name="Скругленный прямоугольник 26"/>
          <p:cNvSpPr/>
          <p:nvPr/>
        </p:nvSpPr>
        <p:spPr>
          <a:xfrm>
            <a:off x="345960" y="1211400"/>
            <a:ext cx="5439960" cy="4989240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  <a:ea typeface="Arial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sldNum" idx="65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/>
                </a:solidFill>
                <a:latin typeface="Montserrat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4DDCBC1D-98F2-4567-8819-519A8DA58373}" type="slidenum">
              <a:rPr b="0" lang="ru-RU" sz="1200" spc="-1" strike="noStrike">
                <a:solidFill>
                  <a:schemeClr val="lt1"/>
                </a:solidFill>
                <a:latin typeface="Montserrat"/>
                <a:ea typeface="Arial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589320" y="1920960"/>
            <a:ext cx="4929480" cy="410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6816" lnSpcReduction="10000"/>
          </a:bodyPr>
          <a:p>
            <a:pPr indent="0" defTabSz="578880">
              <a:lnSpc>
                <a:spcPct val="15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Плата на RP2040 (Cortex-M0+, Thumb-only) в BOOTSEL-режиме отдаёт полный дамп флеша. Внутри — 26 КБ программы и 720 КБ зашифрованного дискового образа с энтропией, близкой к случайной. USB-интерфейс не поднимается без выполнения условия разблокировки, которое зашито в конечном автомате и завязано на квадратурный энкодер (GPIO 27/29) и кнопку (GPIO 28). 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indent="0" defTabSz="578880">
              <a:lnSpc>
                <a:spcPct val="15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Мы декомпилируем автомат, находим условие, анализируем обработчик чтения секторов (`tud_msc_read10_cb`), офлайн расшифровываем образ. Параллельно подключаемся к SWD, пробуем атаки по сторонним каналам, перебор пароля, модификацию прошивки и fault injection для обхода проверок. Для ускорения используем собранные FLIRT-сигнатуры pico-sdk 2.2.0 и пропатченный SVD-Loader под IDA 9.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indent="0" defTabSz="578880">
              <a:lnSpc>
                <a:spcPct val="15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Всё документируем в воспроизводимую методику.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/>
          </p:nvPr>
        </p:nvSpPr>
        <p:spPr>
          <a:xfrm>
            <a:off x="6513480" y="1920960"/>
            <a:ext cx="4956840" cy="387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578880">
              <a:lnSpc>
                <a:spcPct val="15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Arial"/>
              </a:rPr>
              <a:t>Аудит безопасности встраиваемых устройств. Компании смогут проверить свою технику на дыры до того, как её найдут злоумышленники. Обучение — курс или воркшоп по реверс-инжинирингу и аппаратной безопасности. Помощь разработчикам отечественных аналогов: мы показываем, как искать слабые места и что можно улучшить. Пентест «железа» — услуга, которая сейчас набирает обороты. В перспективе — своя лаборатория или участие в больших проектах по кибербезопасности.</a:t>
            </a: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 type="title"/>
          </p:nvPr>
        </p:nvSpPr>
        <p:spPr>
          <a:xfrm>
            <a:off x="525960" y="45684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  <a:ea typeface="Arial"/>
              </a:rPr>
              <a:t>КОРОТКО О РЕШЕНИИ</a:t>
            </a: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56" name="PlaceHolder 5"/>
          <p:cNvSpPr>
            <a:spLocks noGrp="1"/>
          </p:cNvSpPr>
          <p:nvPr>
            <p:ph/>
          </p:nvPr>
        </p:nvSpPr>
        <p:spPr>
          <a:xfrm>
            <a:off x="578160" y="1476720"/>
            <a:ext cx="4929480" cy="55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10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chemeClr val="accent5"/>
                </a:solidFill>
                <a:latin typeface="Montserrat"/>
                <a:ea typeface="Arial"/>
              </a:rPr>
              <a:t>Техническая суть решения</a:t>
            </a:r>
            <a:endParaRPr b="0" lang="ru-RU" sz="2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57" name="PlaceHolder 6"/>
          <p:cNvSpPr>
            <a:spLocks noGrp="1"/>
          </p:cNvSpPr>
          <p:nvPr>
            <p:ph/>
          </p:nvPr>
        </p:nvSpPr>
        <p:spPr>
          <a:xfrm>
            <a:off x="6513480" y="1476720"/>
            <a:ext cx="5214240" cy="56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10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chemeClr val="accent5"/>
                </a:solidFill>
                <a:latin typeface="Montserrat"/>
                <a:ea typeface="Arial"/>
              </a:rPr>
              <a:t>Маркетинговая суть решения</a:t>
            </a:r>
            <a:endParaRPr b="0" lang="ru-RU" sz="2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indent="0" defTabSz="578880">
              <a:lnSpc>
                <a:spcPct val="10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Arial" pitchFamily="0" charset="1"/>
        <a:cs typeface="Arial" pitchFamily="0" charset="1"/>
      </a:majorFont>
      <a:minorFont>
        <a:latin typeface="Montserra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LibreOffice/24.2.7.2$Linux_X86_64 LibreOffice_project/420$Build-2</Application>
  <AppVersion>15.0000</AppVersion>
  <Words>676</Words>
  <Paragraphs>69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2023-05-15T07:36:23Z</dcterms:created>
  <dc:creator>Анастасия Юшкова</dc:creator>
  <dc:description/>
  <dc:language>en-US</dc:language>
  <cp:lastModifiedBy/>
  <dcterms:modified xsi:type="dcterms:W3CDTF">2026-09-29T21:23:48Z</dcterms:modified>
  <cp:revision>112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5</vt:i4>
  </property>
</Properties>
</file>